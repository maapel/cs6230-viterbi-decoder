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5aee98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5aee98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35aee98a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35aee98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35aee98a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35aee98a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35aee98a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35aee98a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35aee98a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35aee98a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35aee98a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35aee98a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ce54c8f35c2c98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ce54c8f35c2c98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eb.stanford.edu/~jurafsky/slp3/A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Viterbi Decoder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CS6230: CAD For VLSI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Hidden Markov Model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Markov Property: </a:t>
            </a:r>
            <a:r>
              <a:rPr lang="en">
                <a:solidFill>
                  <a:schemeClr val="dk1"/>
                </a:solidFill>
              </a:rPr>
              <a:t>Future state depends only on the current state and not the the events that </a:t>
            </a:r>
            <a:r>
              <a:rPr lang="en">
                <a:solidFill>
                  <a:schemeClr val="dk1"/>
                </a:solidFill>
              </a:rPr>
              <a:t>occurred before it.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Hidden States: </a:t>
            </a:r>
            <a:r>
              <a:rPr lang="en">
                <a:solidFill>
                  <a:schemeClr val="dk1"/>
                </a:solidFill>
              </a:rPr>
              <a:t>Actual states of the system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                         are not directly observable.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Observations: </a:t>
            </a:r>
            <a:r>
              <a:rPr lang="en">
                <a:solidFill>
                  <a:schemeClr val="dk1"/>
                </a:solidFill>
              </a:rPr>
              <a:t>Can only observe outputs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                        generated by the hidden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                        states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 title="HMM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150" y="1841250"/>
            <a:ext cx="3281599" cy="2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Viterbi Algorithm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dynamic programming algorithm that finds the </a:t>
            </a:r>
            <a:r>
              <a:rPr b="1" lang="en">
                <a:solidFill>
                  <a:schemeClr val="dk1"/>
                </a:solidFill>
              </a:rPr>
              <a:t>most likely sequence of hidden states</a:t>
            </a:r>
            <a:r>
              <a:rPr lang="en">
                <a:solidFill>
                  <a:schemeClr val="dk1"/>
                </a:solidFill>
              </a:rPr>
              <a:t> for a given sequence of observations made.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Commonly used with Hidden Markov Models.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Viterbi path:</a:t>
            </a:r>
            <a:r>
              <a:rPr lang="en">
                <a:solidFill>
                  <a:schemeClr val="dk1"/>
                </a:solidFill>
              </a:rPr>
              <a:t> Resulting sequence of hidden states.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Applications: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- Decoding convolutional codes in digital communication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- Parts of speech tagging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43775"/>
            <a:ext cx="85206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/>
              <a:t>Mathematical Formulation</a:t>
            </a:r>
            <a:endParaRPr sz="172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72075" y="799350"/>
            <a:ext cx="8520600" cy="22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States: </a:t>
            </a:r>
            <a:r>
              <a:rPr b="1" lang="en" sz="1600">
                <a:solidFill>
                  <a:schemeClr val="dk1"/>
                </a:solidFill>
              </a:rPr>
              <a:t>  </a:t>
            </a:r>
            <a:r>
              <a:rPr lang="en" sz="1600">
                <a:solidFill>
                  <a:schemeClr val="dk1"/>
                </a:solidFill>
              </a:rPr>
              <a:t>q</a:t>
            </a:r>
            <a:r>
              <a:rPr baseline="-25000" lang="en" sz="1600">
                <a:solidFill>
                  <a:schemeClr val="dk1"/>
                </a:solidFill>
              </a:rPr>
              <a:t>0</a:t>
            </a:r>
            <a:r>
              <a:rPr lang="en" sz="1600">
                <a:solidFill>
                  <a:schemeClr val="dk1"/>
                </a:solidFill>
              </a:rPr>
              <a:t>,q</a:t>
            </a:r>
            <a:r>
              <a:rPr baseline="-25000" lang="en" sz="1600">
                <a:solidFill>
                  <a:schemeClr val="dk1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,q</a:t>
            </a:r>
            <a:r>
              <a:rPr baseline="-25000" lang="en" sz="1600">
                <a:solidFill>
                  <a:schemeClr val="dk1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,..q</a:t>
            </a:r>
            <a:r>
              <a:rPr baseline="-25000" lang="en" sz="1600">
                <a:solidFill>
                  <a:schemeClr val="dk1"/>
                </a:solidFill>
              </a:rPr>
              <a:t>N</a:t>
            </a:r>
            <a:r>
              <a:rPr lang="en" sz="1600">
                <a:solidFill>
                  <a:schemeClr val="dk1"/>
                </a:solidFill>
              </a:rPr>
              <a:t>   </a:t>
            </a:r>
            <a:r>
              <a:rPr lang="en" sz="1400">
                <a:solidFill>
                  <a:schemeClr val="dk1"/>
                </a:solidFill>
              </a:rPr>
              <a:t>(q</a:t>
            </a:r>
            <a:r>
              <a:rPr baseline="-25000" lang="en" sz="1400">
                <a:solidFill>
                  <a:schemeClr val="dk1"/>
                </a:solidFill>
              </a:rPr>
              <a:t>0</a:t>
            </a:r>
            <a:r>
              <a:rPr lang="en" sz="1400">
                <a:solidFill>
                  <a:schemeClr val="dk1"/>
                </a:solidFill>
              </a:rPr>
              <a:t> = start state)        N - no of states</a:t>
            </a:r>
            <a:br>
              <a:rPr lang="en" sz="1400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Observations: </a:t>
            </a:r>
            <a:r>
              <a:rPr b="1" lang="en" sz="1600">
                <a:solidFill>
                  <a:schemeClr val="dk1"/>
                </a:solidFill>
              </a:rPr>
              <a:t>	</a:t>
            </a:r>
            <a:r>
              <a:rPr lang="en" sz="1600">
                <a:solidFill>
                  <a:schemeClr val="dk1"/>
                </a:solidFill>
              </a:rPr>
              <a:t>k</a:t>
            </a:r>
            <a:r>
              <a:rPr baseline="-25000" lang="en" sz="1600">
                <a:solidFill>
                  <a:schemeClr val="dk1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,k</a:t>
            </a:r>
            <a:r>
              <a:rPr baseline="-25000" lang="en" sz="1600">
                <a:solidFill>
                  <a:schemeClr val="dk1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,....k</a:t>
            </a:r>
            <a:r>
              <a:rPr baseline="-25000" lang="en" sz="1600">
                <a:solidFill>
                  <a:schemeClr val="dk1"/>
                </a:solidFill>
              </a:rPr>
              <a:t>M             </a:t>
            </a:r>
            <a:r>
              <a:rPr lang="en" sz="1600">
                <a:solidFill>
                  <a:schemeClr val="dk1"/>
                </a:solidFill>
              </a:rPr>
              <a:t>                </a:t>
            </a:r>
            <a:r>
              <a:rPr lang="en" sz="1400">
                <a:solidFill>
                  <a:schemeClr val="dk1"/>
                </a:solidFill>
              </a:rPr>
              <a:t>M - no of observations</a:t>
            </a:r>
            <a:br>
              <a:rPr lang="en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Transition probabilities: </a:t>
            </a:r>
            <a:r>
              <a:rPr lang="en" sz="1600">
                <a:solidFill>
                  <a:schemeClr val="dk1"/>
                </a:solidFill>
              </a:rPr>
              <a:t>a</a:t>
            </a:r>
            <a:r>
              <a:rPr baseline="-25000" lang="en" sz="1600">
                <a:solidFill>
                  <a:schemeClr val="dk1"/>
                </a:solidFill>
              </a:rPr>
              <a:t>ij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( probability of transitioning from state q</a:t>
            </a:r>
            <a:r>
              <a:rPr baseline="-25000" lang="en" sz="1400">
                <a:solidFill>
                  <a:schemeClr val="dk1"/>
                </a:solidFill>
              </a:rPr>
              <a:t>i</a:t>
            </a:r>
            <a:r>
              <a:rPr lang="en" sz="1400">
                <a:solidFill>
                  <a:schemeClr val="dk1"/>
                </a:solidFill>
              </a:rPr>
              <a:t> to state q</a:t>
            </a:r>
            <a:r>
              <a:rPr baseline="-25000" lang="en" sz="1400">
                <a:solidFill>
                  <a:schemeClr val="dk1"/>
                </a:solidFill>
              </a:rPr>
              <a:t>j </a:t>
            </a:r>
            <a:r>
              <a:rPr lang="en" sz="1400">
                <a:solidFill>
                  <a:schemeClr val="dk1"/>
                </a:solidFill>
              </a:rPr>
              <a:t>)</a:t>
            </a:r>
            <a:br>
              <a:rPr lang="en" sz="1400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Emission probabilities: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b</a:t>
            </a:r>
            <a:r>
              <a:rPr baseline="-25000" lang="en" sz="1600">
                <a:solidFill>
                  <a:schemeClr val="dk1"/>
                </a:solidFill>
              </a:rPr>
              <a:t>j</a:t>
            </a:r>
            <a:r>
              <a:rPr lang="en" sz="1600">
                <a:solidFill>
                  <a:schemeClr val="dk1"/>
                </a:solidFill>
              </a:rPr>
              <a:t>(o</a:t>
            </a:r>
            <a:r>
              <a:rPr baseline="-25000" lang="en" sz="1600">
                <a:solidFill>
                  <a:schemeClr val="dk1"/>
                </a:solidFill>
              </a:rPr>
              <a:t>t</a:t>
            </a:r>
            <a:r>
              <a:rPr lang="en" sz="1600">
                <a:solidFill>
                  <a:schemeClr val="dk1"/>
                </a:solidFill>
              </a:rPr>
              <a:t>) </a:t>
            </a:r>
            <a:r>
              <a:rPr lang="en" sz="1400">
                <a:solidFill>
                  <a:schemeClr val="dk1"/>
                </a:solidFill>
              </a:rPr>
              <a:t>( probability of observing `o</a:t>
            </a:r>
            <a:r>
              <a:rPr baseline="-25000" lang="en" sz="1400">
                <a:solidFill>
                  <a:schemeClr val="dk1"/>
                </a:solidFill>
              </a:rPr>
              <a:t>t</a:t>
            </a:r>
            <a:r>
              <a:rPr lang="en" sz="1400">
                <a:solidFill>
                  <a:schemeClr val="dk1"/>
                </a:solidFill>
              </a:rPr>
              <a:t>` given the current state q</a:t>
            </a:r>
            <a:r>
              <a:rPr baseline="-25000" lang="en" sz="1400">
                <a:solidFill>
                  <a:schemeClr val="dk1"/>
                </a:solidFill>
              </a:rPr>
              <a:t>j</a:t>
            </a:r>
            <a:r>
              <a:rPr lang="en" sz="1400">
                <a:solidFill>
                  <a:schemeClr val="dk1"/>
                </a:solidFill>
              </a:rPr>
              <a:t> ) </a:t>
            </a:r>
            <a:br>
              <a:rPr lang="en" sz="1400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Viterbi Path Probability:  </a:t>
            </a:r>
            <a:r>
              <a:rPr lang="en" sz="1400">
                <a:solidFill>
                  <a:schemeClr val="dk1"/>
                </a:solidFill>
              </a:rPr>
              <a:t>v</a:t>
            </a:r>
            <a:r>
              <a:rPr baseline="-25000" lang="en" sz="1400">
                <a:solidFill>
                  <a:schemeClr val="dk1"/>
                </a:solidFill>
              </a:rPr>
              <a:t>t</a:t>
            </a:r>
            <a:r>
              <a:rPr lang="en" sz="1400">
                <a:solidFill>
                  <a:schemeClr val="dk1"/>
                </a:solidFill>
              </a:rPr>
              <a:t>( j ) ( probability of the most likely path ending in state q</a:t>
            </a:r>
            <a:r>
              <a:rPr baseline="-25000" lang="en" sz="1400">
                <a:solidFill>
                  <a:schemeClr val="dk1"/>
                </a:solidFill>
              </a:rPr>
              <a:t>j </a:t>
            </a:r>
            <a:r>
              <a:rPr lang="en" sz="1400">
                <a:solidFill>
                  <a:schemeClr val="dk1"/>
                </a:solidFill>
              </a:rPr>
              <a:t>at time t )</a:t>
            </a:r>
            <a:br>
              <a:rPr lang="en" sz="1400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Input sequence of observations: </a:t>
            </a:r>
            <a:r>
              <a:rPr lang="en" sz="1400">
                <a:solidFill>
                  <a:schemeClr val="dk1"/>
                </a:solidFill>
              </a:rPr>
              <a:t>o</a:t>
            </a:r>
            <a:r>
              <a:rPr baseline="-25000" lang="en" sz="1400">
                <a:solidFill>
                  <a:schemeClr val="dk1"/>
                </a:solidFill>
              </a:rPr>
              <a:t>1</a:t>
            </a:r>
            <a:r>
              <a:rPr lang="en" sz="1400">
                <a:solidFill>
                  <a:schemeClr val="dk1"/>
                </a:solidFill>
              </a:rPr>
              <a:t>, o</a:t>
            </a:r>
            <a:r>
              <a:rPr baseline="-25000" lang="en" sz="1400">
                <a:solidFill>
                  <a:schemeClr val="dk1"/>
                </a:solidFill>
              </a:rPr>
              <a:t>2</a:t>
            </a:r>
            <a:r>
              <a:rPr lang="en" sz="1400">
                <a:solidFill>
                  <a:schemeClr val="dk1"/>
                </a:solidFill>
              </a:rPr>
              <a:t>, o</a:t>
            </a:r>
            <a:r>
              <a:rPr baseline="-25000" lang="en" sz="1400">
                <a:solidFill>
                  <a:schemeClr val="dk1"/>
                </a:solidFill>
              </a:rPr>
              <a:t>3</a:t>
            </a:r>
            <a:r>
              <a:rPr lang="en" sz="1400">
                <a:solidFill>
                  <a:schemeClr val="dk1"/>
                </a:solidFill>
              </a:rPr>
              <a:t>,....,o</a:t>
            </a:r>
            <a:r>
              <a:rPr baseline="-25000" lang="en" sz="1400">
                <a:solidFill>
                  <a:schemeClr val="dk1"/>
                </a:solidFill>
              </a:rPr>
              <a:t>T</a:t>
            </a:r>
            <a:r>
              <a:rPr lang="en" sz="1400">
                <a:solidFill>
                  <a:schemeClr val="dk1"/>
                </a:solidFill>
              </a:rPr>
              <a:t>         (</a:t>
            </a:r>
            <a:r>
              <a:rPr lang="en" sz="1300">
                <a:solidFill>
                  <a:schemeClr val="dk1"/>
                </a:solidFill>
              </a:rPr>
              <a:t>o</a:t>
            </a:r>
            <a:r>
              <a:rPr baseline="-25000" lang="en" sz="1300">
                <a:solidFill>
                  <a:schemeClr val="dk1"/>
                </a:solidFill>
              </a:rPr>
              <a:t>t</a:t>
            </a:r>
            <a:r>
              <a:rPr lang="en" sz="1300">
                <a:solidFill>
                  <a:schemeClr val="dk1"/>
                </a:solidFill>
              </a:rPr>
              <a:t> can be any of k</a:t>
            </a:r>
            <a:r>
              <a:rPr baseline="-25000" lang="en" sz="1300">
                <a:solidFill>
                  <a:schemeClr val="dk1"/>
                </a:solidFill>
              </a:rPr>
              <a:t>1</a:t>
            </a:r>
            <a:r>
              <a:rPr lang="en" sz="1300">
                <a:solidFill>
                  <a:schemeClr val="dk1"/>
                </a:solidFill>
              </a:rPr>
              <a:t>,k</a:t>
            </a:r>
            <a:r>
              <a:rPr baseline="-25000" lang="en" sz="1300">
                <a:solidFill>
                  <a:schemeClr val="dk1"/>
                </a:solidFill>
              </a:rPr>
              <a:t>2</a:t>
            </a:r>
            <a:r>
              <a:rPr lang="en" sz="1300">
                <a:solidFill>
                  <a:schemeClr val="dk1"/>
                </a:solidFill>
              </a:rPr>
              <a:t>,....k</a:t>
            </a:r>
            <a:r>
              <a:rPr baseline="-25000" lang="en" sz="1300">
                <a:solidFill>
                  <a:schemeClr val="dk1"/>
                </a:solidFill>
              </a:rPr>
              <a:t>M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72000" y="3242725"/>
            <a:ext cx="6789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		</a:t>
            </a:r>
            <a:r>
              <a:rPr lang="en" sz="1500">
                <a:solidFill>
                  <a:schemeClr val="dk1"/>
                </a:solidFill>
              </a:rPr>
              <a:t>                                                                                  ( t &gt; 1 )</a:t>
            </a:r>
            <a:br>
              <a:rPr lang="en" sz="1500">
                <a:solidFill>
                  <a:schemeClr val="dk1"/>
                </a:solidFill>
              </a:rPr>
            </a:br>
            <a:br>
              <a:rPr lang="en" sz="1500">
                <a:solidFill>
                  <a:schemeClr val="dk1"/>
                </a:solidFill>
              </a:rPr>
            </a:br>
            <a:br>
              <a:rPr lang="en" sz="15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When t = 1, V</a:t>
            </a:r>
            <a:r>
              <a:rPr baseline="-25000" lang="en" sz="1300">
                <a:solidFill>
                  <a:schemeClr val="dk1"/>
                </a:solidFill>
              </a:rPr>
              <a:t>1</a:t>
            </a:r>
            <a:r>
              <a:rPr lang="en" sz="1300">
                <a:solidFill>
                  <a:schemeClr val="dk1"/>
                </a:solidFill>
              </a:rPr>
              <a:t>( j ) = a</a:t>
            </a:r>
            <a:r>
              <a:rPr baseline="-25000" lang="en" sz="1300">
                <a:solidFill>
                  <a:schemeClr val="dk1"/>
                </a:solidFill>
              </a:rPr>
              <a:t>q0, j </a:t>
            </a:r>
            <a:r>
              <a:rPr lang="en" sz="1300">
                <a:solidFill>
                  <a:schemeClr val="dk1"/>
                </a:solidFill>
              </a:rPr>
              <a:t>* b</a:t>
            </a:r>
            <a:r>
              <a:rPr baseline="-25000" lang="en" sz="1300">
                <a:solidFill>
                  <a:schemeClr val="dk1"/>
                </a:solidFill>
              </a:rPr>
              <a:t>j</a:t>
            </a:r>
            <a:r>
              <a:rPr lang="en" sz="1300">
                <a:solidFill>
                  <a:schemeClr val="dk1"/>
                </a:solidFill>
              </a:rPr>
              <a:t>(o</a:t>
            </a:r>
            <a:r>
              <a:rPr baseline="-25000" lang="en" sz="1300">
                <a:solidFill>
                  <a:schemeClr val="dk1"/>
                </a:solidFill>
              </a:rPr>
              <a:t>t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baseline="-25000" sz="13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113250" y="3312100"/>
            <a:ext cx="3850200" cy="41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V</a:t>
            </a:r>
            <a:r>
              <a:rPr b="1" baseline="-25000" lang="en" sz="1500">
                <a:solidFill>
                  <a:schemeClr val="dk1"/>
                </a:solidFill>
              </a:rPr>
              <a:t>t</a:t>
            </a:r>
            <a:r>
              <a:rPr b="1" lang="en" sz="1500">
                <a:solidFill>
                  <a:schemeClr val="dk1"/>
                </a:solidFill>
              </a:rPr>
              <a:t>( j ) = </a:t>
            </a:r>
            <a:r>
              <a:rPr lang="en" sz="1500">
                <a:solidFill>
                  <a:schemeClr val="dk1"/>
                </a:solidFill>
              </a:rPr>
              <a:t>max</a:t>
            </a:r>
            <a:r>
              <a:rPr baseline="-25000" lang="en" sz="1500">
                <a:solidFill>
                  <a:schemeClr val="dk1"/>
                </a:solidFill>
              </a:rPr>
              <a:t>(0&lt;i&lt;N+1)</a:t>
            </a:r>
            <a:r>
              <a:rPr lang="en" sz="1500">
                <a:solidFill>
                  <a:schemeClr val="dk1"/>
                </a:solidFill>
              </a:rPr>
              <a:t>(</a:t>
            </a:r>
            <a:r>
              <a:rPr b="1" lang="en" sz="1500">
                <a:solidFill>
                  <a:schemeClr val="dk1"/>
                </a:solidFill>
              </a:rPr>
              <a:t> V</a:t>
            </a:r>
            <a:r>
              <a:rPr b="1" baseline="-25000" lang="en" sz="1500">
                <a:solidFill>
                  <a:schemeClr val="dk1"/>
                </a:solidFill>
              </a:rPr>
              <a:t>t - 1</a:t>
            </a:r>
            <a:r>
              <a:rPr b="1" lang="en" sz="1500">
                <a:solidFill>
                  <a:schemeClr val="dk1"/>
                </a:solidFill>
              </a:rPr>
              <a:t>( i ) *  a</a:t>
            </a:r>
            <a:r>
              <a:rPr b="1" baseline="-25000" lang="en" sz="1500">
                <a:solidFill>
                  <a:schemeClr val="dk1"/>
                </a:solidFill>
              </a:rPr>
              <a:t>ij</a:t>
            </a:r>
            <a:r>
              <a:rPr b="1" lang="en" sz="1500">
                <a:solidFill>
                  <a:schemeClr val="dk1"/>
                </a:solidFill>
              </a:rPr>
              <a:t>* b</a:t>
            </a:r>
            <a:r>
              <a:rPr b="1" baseline="-25000" lang="en" sz="1500">
                <a:solidFill>
                  <a:schemeClr val="dk1"/>
                </a:solidFill>
              </a:rPr>
              <a:t>j</a:t>
            </a:r>
            <a:r>
              <a:rPr b="1" lang="en" sz="1500">
                <a:solidFill>
                  <a:schemeClr val="dk1"/>
                </a:solidFill>
              </a:rPr>
              <a:t>(o</a:t>
            </a:r>
            <a:r>
              <a:rPr b="1" baseline="-25000" lang="en" sz="1500">
                <a:solidFill>
                  <a:schemeClr val="dk1"/>
                </a:solidFill>
              </a:rPr>
              <a:t>t</a:t>
            </a:r>
            <a:r>
              <a:rPr b="1" lang="en" sz="1500">
                <a:solidFill>
                  <a:schemeClr val="dk1"/>
                </a:solidFill>
              </a:rPr>
              <a:t>)</a:t>
            </a:r>
            <a:r>
              <a:rPr lang="en" sz="1500">
                <a:solidFill>
                  <a:schemeClr val="dk1"/>
                </a:solidFill>
              </a:rPr>
              <a:t> )  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48700" y="4639050"/>
            <a:ext cx="652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Study material: </a:t>
            </a:r>
            <a:r>
              <a:rPr lang="en" sz="9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https://web.stanford.edu/~jurafsky/slp3/A.pdf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90125"/>
            <a:ext cx="85206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Example</a:t>
            </a:r>
            <a:endParaRPr sz="162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596800"/>
            <a:ext cx="8520600" cy="4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N = 2 (Rainy, Sunny)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M = 4 (Walk, Shop, Study, Clean)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Observed for 3 consecutive days: 1,3,4 (W,S,C)         Most probable sequence of weather?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2494600" y="2424175"/>
            <a:ext cx="731100" cy="55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3353150" y="1298625"/>
            <a:ext cx="1066500" cy="724500"/>
          </a:xfrm>
          <a:prstGeom prst="donut">
            <a:avLst>
              <a:gd fmla="val 1190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4572000" y="2357075"/>
            <a:ext cx="731100" cy="55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1927400" y="3583800"/>
            <a:ext cx="731100" cy="55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3118725" y="3624050"/>
            <a:ext cx="731100" cy="55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4206450" y="3583800"/>
            <a:ext cx="731100" cy="55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5192725" y="3583800"/>
            <a:ext cx="731100" cy="55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7"/>
          <p:cNvCxnSpPr>
            <a:stCxn id="85" idx="3"/>
            <a:endCxn id="84" idx="7"/>
          </p:cNvCxnSpPr>
          <p:nvPr/>
        </p:nvCxnSpPr>
        <p:spPr>
          <a:xfrm flipH="1">
            <a:off x="3118735" y="1917024"/>
            <a:ext cx="390600" cy="5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7"/>
          <p:cNvCxnSpPr>
            <a:stCxn id="85" idx="5"/>
            <a:endCxn id="86" idx="1"/>
          </p:cNvCxnSpPr>
          <p:nvPr/>
        </p:nvCxnSpPr>
        <p:spPr>
          <a:xfrm>
            <a:off x="4263465" y="1917024"/>
            <a:ext cx="4155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7"/>
          <p:cNvCxnSpPr>
            <a:stCxn id="84" idx="4"/>
          </p:cNvCxnSpPr>
          <p:nvPr/>
        </p:nvCxnSpPr>
        <p:spPr>
          <a:xfrm flipH="1">
            <a:off x="2434150" y="2980975"/>
            <a:ext cx="426000" cy="611700"/>
          </a:xfrm>
          <a:prstGeom prst="straightConnector1">
            <a:avLst/>
          </a:prstGeom>
          <a:noFill/>
          <a:ln cap="flat" cmpd="sng" w="9525">
            <a:solidFill>
              <a:srgbClr val="DD7E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>
            <a:stCxn id="84" idx="4"/>
            <a:endCxn id="88" idx="0"/>
          </p:cNvCxnSpPr>
          <p:nvPr/>
        </p:nvCxnSpPr>
        <p:spPr>
          <a:xfrm>
            <a:off x="2860150" y="2980975"/>
            <a:ext cx="624000" cy="643200"/>
          </a:xfrm>
          <a:prstGeom prst="straightConnector1">
            <a:avLst/>
          </a:prstGeom>
          <a:noFill/>
          <a:ln cap="flat" cmpd="sng" w="9525">
            <a:solidFill>
              <a:srgbClr val="DD7E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>
            <a:stCxn id="84" idx="4"/>
            <a:endCxn id="89" idx="0"/>
          </p:cNvCxnSpPr>
          <p:nvPr/>
        </p:nvCxnSpPr>
        <p:spPr>
          <a:xfrm>
            <a:off x="2860150" y="2980975"/>
            <a:ext cx="1711800" cy="602700"/>
          </a:xfrm>
          <a:prstGeom prst="straightConnector1">
            <a:avLst/>
          </a:prstGeom>
          <a:noFill/>
          <a:ln cap="flat" cmpd="sng" w="9525">
            <a:solidFill>
              <a:srgbClr val="DD7E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>
            <a:stCxn id="84" idx="4"/>
            <a:endCxn id="90" idx="0"/>
          </p:cNvCxnSpPr>
          <p:nvPr/>
        </p:nvCxnSpPr>
        <p:spPr>
          <a:xfrm>
            <a:off x="2860150" y="2980975"/>
            <a:ext cx="2698200" cy="602700"/>
          </a:xfrm>
          <a:prstGeom prst="straightConnector1">
            <a:avLst/>
          </a:prstGeom>
          <a:noFill/>
          <a:ln cap="flat" cmpd="sng" w="9525">
            <a:solidFill>
              <a:srgbClr val="DD7E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7"/>
          <p:cNvSpPr txBox="1"/>
          <p:nvPr/>
        </p:nvSpPr>
        <p:spPr>
          <a:xfrm>
            <a:off x="3628250" y="1483875"/>
            <a:ext cx="51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Start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548150" y="2538850"/>
            <a:ext cx="624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767300" y="2461050"/>
            <a:ext cx="4155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165850" y="3665425"/>
            <a:ext cx="426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322300" y="3710125"/>
            <a:ext cx="39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411100" y="3665425"/>
            <a:ext cx="39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362975" y="3665425"/>
            <a:ext cx="39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4" name="Google Shape;104;p17"/>
          <p:cNvCxnSpPr>
            <a:stCxn id="86" idx="3"/>
            <a:endCxn id="87" idx="7"/>
          </p:cNvCxnSpPr>
          <p:nvPr/>
        </p:nvCxnSpPr>
        <p:spPr>
          <a:xfrm flipH="1">
            <a:off x="2551467" y="2832334"/>
            <a:ext cx="2127600" cy="833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7"/>
          <p:cNvCxnSpPr>
            <a:stCxn id="86" idx="3"/>
          </p:cNvCxnSpPr>
          <p:nvPr/>
        </p:nvCxnSpPr>
        <p:spPr>
          <a:xfrm flipH="1">
            <a:off x="3695367" y="2832334"/>
            <a:ext cx="983700" cy="867600"/>
          </a:xfrm>
          <a:prstGeom prst="straightConnector1">
            <a:avLst/>
          </a:prstGeom>
          <a:noFill/>
          <a:ln cap="flat" cmpd="sng" w="9525">
            <a:solidFill>
              <a:srgbClr val="6FA8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7"/>
          <p:cNvCxnSpPr>
            <a:endCxn id="89" idx="7"/>
          </p:cNvCxnSpPr>
          <p:nvPr/>
        </p:nvCxnSpPr>
        <p:spPr>
          <a:xfrm>
            <a:off x="4678983" y="2832241"/>
            <a:ext cx="151500" cy="833100"/>
          </a:xfrm>
          <a:prstGeom prst="straightConnector1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>
            <a:endCxn id="90" idx="0"/>
          </p:cNvCxnSpPr>
          <p:nvPr/>
        </p:nvCxnSpPr>
        <p:spPr>
          <a:xfrm>
            <a:off x="4694875" y="2841300"/>
            <a:ext cx="863400" cy="742500"/>
          </a:xfrm>
          <a:prstGeom prst="straightConnector1">
            <a:avLst/>
          </a:prstGeom>
          <a:noFill/>
          <a:ln cap="flat" cmpd="sng" w="9525">
            <a:solidFill>
              <a:srgbClr val="6FA8D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7"/>
          <p:cNvSpPr/>
          <p:nvPr/>
        </p:nvSpPr>
        <p:spPr>
          <a:xfrm>
            <a:off x="4999202" y="1772020"/>
            <a:ext cx="702875" cy="774225"/>
          </a:xfrm>
          <a:custGeom>
            <a:rect b="b" l="l" r="r" t="t"/>
            <a:pathLst>
              <a:path extrusionOk="0" h="30969" w="28115">
                <a:moveTo>
                  <a:pt x="3116" y="23456"/>
                </a:moveTo>
                <a:cubicBezTo>
                  <a:pt x="761" y="16979"/>
                  <a:pt x="-2100" y="8090"/>
                  <a:pt x="2312" y="2796"/>
                </a:cubicBezTo>
                <a:cubicBezTo>
                  <a:pt x="5189" y="-656"/>
                  <a:pt x="11707" y="-555"/>
                  <a:pt x="15727" y="1455"/>
                </a:cubicBezTo>
                <a:cubicBezTo>
                  <a:pt x="21463" y="4323"/>
                  <a:pt x="28445" y="9810"/>
                  <a:pt x="28069" y="16212"/>
                </a:cubicBezTo>
                <a:cubicBezTo>
                  <a:pt x="27665" y="23094"/>
                  <a:pt x="20118" y="28782"/>
                  <a:pt x="13581" y="3096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Google Shape;109;p17"/>
          <p:cNvSpPr/>
          <p:nvPr/>
        </p:nvSpPr>
        <p:spPr>
          <a:xfrm>
            <a:off x="2146721" y="1953373"/>
            <a:ext cx="596100" cy="619700"/>
          </a:xfrm>
          <a:custGeom>
            <a:rect b="b" l="l" r="r" t="t"/>
            <a:pathLst>
              <a:path extrusionOk="0" h="24788" w="23844">
                <a:moveTo>
                  <a:pt x="14989" y="24788"/>
                </a:moveTo>
                <a:cubicBezTo>
                  <a:pt x="7753" y="22561"/>
                  <a:pt x="-2856" y="13725"/>
                  <a:pt x="769" y="7079"/>
                </a:cubicBezTo>
                <a:cubicBezTo>
                  <a:pt x="3613" y="1865"/>
                  <a:pt x="13036" y="-2266"/>
                  <a:pt x="17673" y="1445"/>
                </a:cubicBezTo>
                <a:cubicBezTo>
                  <a:pt x="22752" y="5509"/>
                  <a:pt x="23844" y="13453"/>
                  <a:pt x="23844" y="1995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" name="Google Shape;110;p17"/>
          <p:cNvSpPr/>
          <p:nvPr/>
        </p:nvSpPr>
        <p:spPr>
          <a:xfrm>
            <a:off x="5290672" y="2425500"/>
            <a:ext cx="209025" cy="168075"/>
          </a:xfrm>
          <a:custGeom>
            <a:rect b="b" l="l" r="r" t="t"/>
            <a:pathLst>
              <a:path extrusionOk="0" h="6723" w="8361">
                <a:moveTo>
                  <a:pt x="4068" y="0"/>
                </a:moveTo>
                <a:cubicBezTo>
                  <a:pt x="2687" y="1758"/>
                  <a:pt x="321" y="3147"/>
                  <a:pt x="43" y="5366"/>
                </a:cubicBezTo>
                <a:cubicBezTo>
                  <a:pt x="-302" y="8119"/>
                  <a:pt x="5587" y="5635"/>
                  <a:pt x="8361" y="563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" name="Google Shape;111;p17"/>
          <p:cNvSpPr/>
          <p:nvPr/>
        </p:nvSpPr>
        <p:spPr>
          <a:xfrm>
            <a:off x="2642200" y="2277925"/>
            <a:ext cx="187825" cy="156000"/>
          </a:xfrm>
          <a:custGeom>
            <a:rect b="b" l="l" r="r" t="t"/>
            <a:pathLst>
              <a:path extrusionOk="0" h="6240" w="7513">
                <a:moveTo>
                  <a:pt x="0" y="2683"/>
                </a:moveTo>
                <a:cubicBezTo>
                  <a:pt x="1368" y="4051"/>
                  <a:pt x="3319" y="7112"/>
                  <a:pt x="4830" y="5903"/>
                </a:cubicBezTo>
                <a:cubicBezTo>
                  <a:pt x="6518" y="4553"/>
                  <a:pt x="7513" y="2161"/>
                  <a:pt x="7513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2" name="Google Shape;112;p17"/>
          <p:cNvCxnSpPr>
            <a:endCxn id="86" idx="2"/>
          </p:cNvCxnSpPr>
          <p:nvPr/>
        </p:nvCxnSpPr>
        <p:spPr>
          <a:xfrm flipH="1" rot="10800000">
            <a:off x="3225600" y="2635475"/>
            <a:ext cx="1346400" cy="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7"/>
          <p:cNvCxnSpPr>
            <a:stCxn id="86" idx="1"/>
          </p:cNvCxnSpPr>
          <p:nvPr/>
        </p:nvCxnSpPr>
        <p:spPr>
          <a:xfrm flipH="1">
            <a:off x="3225867" y="2438616"/>
            <a:ext cx="1453200" cy="13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7"/>
          <p:cNvSpPr txBox="1"/>
          <p:nvPr/>
        </p:nvSpPr>
        <p:spPr>
          <a:xfrm>
            <a:off x="2078750" y="1761425"/>
            <a:ext cx="2859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616975" y="3521000"/>
            <a:ext cx="39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376700" y="3178950"/>
            <a:ext cx="39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290675" y="2068575"/>
            <a:ext cx="39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1927400" y="177202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0.7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454800" y="1699400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0.4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976850" y="196947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0.5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383408" y="194712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0.5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703550" y="224007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0.6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3710258" y="2561613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0.3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2364650" y="305267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0.1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2976850" y="3037050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0.2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901425" y="332457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0.3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4198363" y="331502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0.4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3886263" y="2839500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0.3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282625" y="2945088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0.3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676850" y="2949875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0.2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999200" y="2966750"/>
            <a:ext cx="3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0.2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5574" y="358200"/>
            <a:ext cx="3237300" cy="20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341375" y="164975"/>
            <a:ext cx="43266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Observed for 3 consecutive days: 1,3,4 (W,S,C)        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980000"/>
                </a:solidFill>
              </a:rPr>
              <a:t>Most probable sequence of weather?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341375" y="2566300"/>
            <a:ext cx="70095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5900" y="4437850"/>
            <a:ext cx="462900" cy="31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Start</a:t>
            </a:r>
            <a:endParaRPr sz="1000"/>
          </a:p>
        </p:txBody>
      </p:sp>
      <p:cxnSp>
        <p:nvCxnSpPr>
          <p:cNvPr id="140" name="Google Shape;140;p18"/>
          <p:cNvCxnSpPr>
            <a:stCxn id="139" idx="0"/>
            <a:endCxn id="141" idx="2"/>
          </p:cNvCxnSpPr>
          <p:nvPr/>
        </p:nvCxnSpPr>
        <p:spPr>
          <a:xfrm flipH="1" rot="10800000">
            <a:off x="767350" y="2946550"/>
            <a:ext cx="1343100" cy="149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8"/>
          <p:cNvCxnSpPr>
            <a:stCxn id="139" idx="0"/>
            <a:endCxn id="143" idx="3"/>
          </p:cNvCxnSpPr>
          <p:nvPr/>
        </p:nvCxnSpPr>
        <p:spPr>
          <a:xfrm flipH="1" rot="10800000">
            <a:off x="767350" y="3903850"/>
            <a:ext cx="1410900" cy="53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4" name="Google Shape;144;p18"/>
          <p:cNvGrpSpPr/>
          <p:nvPr/>
        </p:nvGrpSpPr>
        <p:grpSpPr>
          <a:xfrm>
            <a:off x="795347" y="2375400"/>
            <a:ext cx="2154128" cy="2377750"/>
            <a:chOff x="795347" y="2375400"/>
            <a:chExt cx="2154128" cy="2377750"/>
          </a:xfrm>
        </p:grpSpPr>
        <p:sp>
          <p:nvSpPr>
            <p:cNvPr id="145" name="Google Shape;145;p18"/>
            <p:cNvSpPr txBox="1"/>
            <p:nvPr/>
          </p:nvSpPr>
          <p:spPr>
            <a:xfrm>
              <a:off x="1855075" y="2375400"/>
              <a:ext cx="10944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v</a:t>
              </a:r>
              <a:r>
                <a:rPr baseline="-25000" lang="en" sz="1300">
                  <a:solidFill>
                    <a:schemeClr val="dk2"/>
                  </a:solidFill>
                </a:rPr>
                <a:t>1</a:t>
              </a:r>
              <a:r>
                <a:rPr lang="en" sz="1300">
                  <a:solidFill>
                    <a:schemeClr val="dk2"/>
                  </a:solidFill>
                </a:rPr>
                <a:t>(</a:t>
              </a:r>
              <a:r>
                <a:rPr lang="en" sz="1200">
                  <a:solidFill>
                    <a:schemeClr val="dk2"/>
                  </a:solidFill>
                </a:rPr>
                <a:t>R</a:t>
              </a:r>
              <a:r>
                <a:rPr lang="en" sz="1300">
                  <a:solidFill>
                    <a:schemeClr val="dk2"/>
                  </a:solidFill>
                </a:rPr>
                <a:t>) = 0.05</a:t>
              </a:r>
              <a:endParaRPr sz="1300">
                <a:solidFill>
                  <a:schemeClr val="dk2"/>
                </a:solidFill>
              </a:endParaRPr>
            </a:p>
          </p:txBody>
        </p:sp>
        <p:grpSp>
          <p:nvGrpSpPr>
            <p:cNvPr id="146" name="Google Shape;146;p18"/>
            <p:cNvGrpSpPr/>
            <p:nvPr/>
          </p:nvGrpSpPr>
          <p:grpSpPr>
            <a:xfrm>
              <a:off x="795347" y="2712550"/>
              <a:ext cx="1777903" cy="2040600"/>
              <a:chOff x="795347" y="2712550"/>
              <a:chExt cx="1777903" cy="2040600"/>
            </a:xfrm>
          </p:grpSpPr>
          <p:grpSp>
            <p:nvGrpSpPr>
              <p:cNvPr id="147" name="Google Shape;147;p18"/>
              <p:cNvGrpSpPr/>
              <p:nvPr/>
            </p:nvGrpSpPr>
            <p:grpSpPr>
              <a:xfrm>
                <a:off x="2110350" y="2712550"/>
                <a:ext cx="462900" cy="2040600"/>
                <a:chOff x="2110350" y="2712550"/>
                <a:chExt cx="462900" cy="2040600"/>
              </a:xfrm>
            </p:grpSpPr>
            <p:sp>
              <p:nvSpPr>
                <p:cNvPr id="148" name="Google Shape;148;p18"/>
                <p:cNvSpPr/>
                <p:nvPr/>
              </p:nvSpPr>
              <p:spPr>
                <a:xfrm>
                  <a:off x="2110350" y="4437850"/>
                  <a:ext cx="462900" cy="3153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/>
                    <a:t>1</a:t>
                  </a:r>
                  <a:endParaRPr sz="1000"/>
                </a:p>
              </p:txBody>
            </p:sp>
            <p:sp>
              <p:nvSpPr>
                <p:cNvPr id="143" name="Google Shape;143;p18"/>
                <p:cNvSpPr/>
                <p:nvPr/>
              </p:nvSpPr>
              <p:spPr>
                <a:xfrm>
                  <a:off x="2110350" y="3504300"/>
                  <a:ext cx="462900" cy="468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S</a:t>
                  </a:r>
                  <a:endParaRPr/>
                </a:p>
              </p:txBody>
            </p:sp>
            <p:sp>
              <p:nvSpPr>
                <p:cNvPr id="141" name="Google Shape;141;p18"/>
                <p:cNvSpPr/>
                <p:nvPr/>
              </p:nvSpPr>
              <p:spPr>
                <a:xfrm>
                  <a:off x="2110350" y="2712550"/>
                  <a:ext cx="462900" cy="468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R</a:t>
                  </a:r>
                  <a:endParaRPr/>
                </a:p>
              </p:txBody>
            </p:sp>
          </p:grpSp>
          <p:sp>
            <p:nvSpPr>
              <p:cNvPr id="149" name="Google Shape;149;p18"/>
              <p:cNvSpPr txBox="1"/>
              <p:nvPr/>
            </p:nvSpPr>
            <p:spPr>
              <a:xfrm rot="-2700000">
                <a:off x="746244" y="3397777"/>
                <a:ext cx="1264307" cy="3848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0.5*0.1 = 0.05</a:t>
                </a:r>
                <a:endParaRPr sz="1300">
                  <a:solidFill>
                    <a:schemeClr val="dk2"/>
                  </a:solidFill>
                </a:endParaRPr>
              </a:p>
            </p:txBody>
          </p:sp>
          <p:sp>
            <p:nvSpPr>
              <p:cNvPr id="150" name="Google Shape;150;p18"/>
              <p:cNvSpPr txBox="1"/>
              <p:nvPr/>
            </p:nvSpPr>
            <p:spPr>
              <a:xfrm rot="-1328078">
                <a:off x="1024797" y="4020283"/>
                <a:ext cx="1264384" cy="3848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0.5*0.3 = 0.15</a:t>
                </a:r>
                <a:endParaRPr sz="1300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151" name="Google Shape;151;p18"/>
            <p:cNvSpPr txBox="1"/>
            <p:nvPr/>
          </p:nvSpPr>
          <p:spPr>
            <a:xfrm>
              <a:off x="1855075" y="3165375"/>
              <a:ext cx="10944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v</a:t>
              </a:r>
              <a:r>
                <a:rPr baseline="-25000" lang="en" sz="1300">
                  <a:solidFill>
                    <a:schemeClr val="dk2"/>
                  </a:solidFill>
                </a:rPr>
                <a:t>1</a:t>
              </a:r>
              <a:r>
                <a:rPr lang="en" sz="1300">
                  <a:solidFill>
                    <a:schemeClr val="dk2"/>
                  </a:solidFill>
                </a:rPr>
                <a:t>(</a:t>
              </a:r>
              <a:r>
                <a:rPr lang="en" sz="1200">
                  <a:solidFill>
                    <a:schemeClr val="dk2"/>
                  </a:solidFill>
                </a:rPr>
                <a:t>S</a:t>
              </a:r>
              <a:r>
                <a:rPr lang="en" sz="1300">
                  <a:solidFill>
                    <a:schemeClr val="dk2"/>
                  </a:solidFill>
                </a:rPr>
                <a:t>) = 0.15</a:t>
              </a:r>
              <a:endParaRPr sz="1300">
                <a:solidFill>
                  <a:schemeClr val="dk2"/>
                </a:solidFill>
              </a:endParaRPr>
            </a:p>
          </p:txBody>
        </p:sp>
      </p:grpSp>
      <p:cxnSp>
        <p:nvCxnSpPr>
          <p:cNvPr id="152" name="Google Shape;152;p18"/>
          <p:cNvCxnSpPr>
            <a:stCxn id="141" idx="6"/>
            <a:endCxn id="153" idx="2"/>
          </p:cNvCxnSpPr>
          <p:nvPr/>
        </p:nvCxnSpPr>
        <p:spPr>
          <a:xfrm>
            <a:off x="2573250" y="2946550"/>
            <a:ext cx="115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8"/>
          <p:cNvCxnSpPr/>
          <p:nvPr/>
        </p:nvCxnSpPr>
        <p:spPr>
          <a:xfrm flipH="1" rot="10800000">
            <a:off x="2573250" y="3171600"/>
            <a:ext cx="1319400" cy="56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8"/>
          <p:cNvCxnSpPr>
            <a:endCxn id="156" idx="3"/>
          </p:cNvCxnSpPr>
          <p:nvPr/>
        </p:nvCxnSpPr>
        <p:spPr>
          <a:xfrm flipH="1" rot="10800000">
            <a:off x="2341840" y="3903763"/>
            <a:ext cx="1457700" cy="6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8"/>
          <p:cNvCxnSpPr>
            <a:stCxn id="141" idx="6"/>
            <a:endCxn id="156" idx="1"/>
          </p:cNvCxnSpPr>
          <p:nvPr/>
        </p:nvCxnSpPr>
        <p:spPr>
          <a:xfrm>
            <a:off x="2573250" y="2946550"/>
            <a:ext cx="1226400" cy="6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58" name="Google Shape;158;p18"/>
          <p:cNvGrpSpPr/>
          <p:nvPr/>
        </p:nvGrpSpPr>
        <p:grpSpPr>
          <a:xfrm>
            <a:off x="2448356" y="2624300"/>
            <a:ext cx="1746294" cy="2128850"/>
            <a:chOff x="2448356" y="2624300"/>
            <a:chExt cx="1746294" cy="2128850"/>
          </a:xfrm>
        </p:grpSpPr>
        <p:grpSp>
          <p:nvGrpSpPr>
            <p:cNvPr id="159" name="Google Shape;159;p18"/>
            <p:cNvGrpSpPr/>
            <p:nvPr/>
          </p:nvGrpSpPr>
          <p:grpSpPr>
            <a:xfrm>
              <a:off x="3731750" y="2712550"/>
              <a:ext cx="462900" cy="2040600"/>
              <a:chOff x="3731750" y="2712550"/>
              <a:chExt cx="462900" cy="2040600"/>
            </a:xfrm>
          </p:grpSpPr>
          <p:sp>
            <p:nvSpPr>
              <p:cNvPr id="160" name="Google Shape;160;p18"/>
              <p:cNvSpPr/>
              <p:nvPr/>
            </p:nvSpPr>
            <p:spPr>
              <a:xfrm>
                <a:off x="3731750" y="4437850"/>
                <a:ext cx="462900" cy="315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3</a:t>
                </a:r>
                <a:endParaRPr sz="1000"/>
              </a:p>
            </p:txBody>
          </p:sp>
          <p:sp>
            <p:nvSpPr>
              <p:cNvPr id="153" name="Google Shape;153;p18"/>
              <p:cNvSpPr/>
              <p:nvPr/>
            </p:nvSpPr>
            <p:spPr>
              <a:xfrm>
                <a:off x="3731750" y="2712550"/>
                <a:ext cx="462900" cy="468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</a:t>
                </a:r>
                <a:endParaRPr/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3731750" y="3504300"/>
                <a:ext cx="462900" cy="468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</p:grpSp>
        <p:sp>
          <p:nvSpPr>
            <p:cNvPr id="161" name="Google Shape;161;p18"/>
            <p:cNvSpPr txBox="1"/>
            <p:nvPr/>
          </p:nvSpPr>
          <p:spPr>
            <a:xfrm>
              <a:off x="2573250" y="2624300"/>
              <a:ext cx="9768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0.7 * 0.4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 rot="1399092">
              <a:off x="2764587" y="3063419"/>
              <a:ext cx="1094389" cy="392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0.3 * 0.2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 rot="-1391049">
              <a:off x="2481422" y="3439379"/>
              <a:ext cx="1094268" cy="392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0.6 * 0.4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2639250" y="3833475"/>
              <a:ext cx="10944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0.4 * 0.2</a:t>
              </a:r>
              <a:endParaRPr sz="1300">
                <a:solidFill>
                  <a:schemeClr val="dk2"/>
                </a:solidFill>
              </a:endParaRPr>
            </a:p>
          </p:txBody>
        </p:sp>
      </p:grpSp>
      <p:sp>
        <p:nvSpPr>
          <p:cNvPr id="165" name="Google Shape;165;p18"/>
          <p:cNvSpPr txBox="1"/>
          <p:nvPr/>
        </p:nvSpPr>
        <p:spPr>
          <a:xfrm>
            <a:off x="3345600" y="2141700"/>
            <a:ext cx="15678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v</a:t>
            </a:r>
            <a:r>
              <a:rPr baseline="-25000" lang="en" sz="1300">
                <a:solidFill>
                  <a:schemeClr val="dk2"/>
                </a:solidFill>
              </a:rPr>
              <a:t>2</a:t>
            </a:r>
            <a:r>
              <a:rPr lang="en" sz="1300">
                <a:solidFill>
                  <a:schemeClr val="dk2"/>
                </a:solidFill>
              </a:rPr>
              <a:t>(</a:t>
            </a:r>
            <a:r>
              <a:rPr lang="en" sz="1200">
                <a:solidFill>
                  <a:schemeClr val="dk2"/>
                </a:solidFill>
              </a:rPr>
              <a:t>R</a:t>
            </a:r>
            <a:r>
              <a:rPr lang="en" sz="1300">
                <a:solidFill>
                  <a:schemeClr val="dk2"/>
                </a:solidFill>
              </a:rPr>
              <a:t>) = 0.15*0. 24</a:t>
            </a:r>
            <a:br>
              <a:rPr lang="en" sz="1300">
                <a:solidFill>
                  <a:schemeClr val="dk2"/>
                </a:solidFill>
              </a:rPr>
            </a:br>
            <a:r>
              <a:rPr lang="en" sz="1300">
                <a:solidFill>
                  <a:schemeClr val="dk2"/>
                </a:solidFill>
              </a:rPr>
              <a:t>bt</a:t>
            </a:r>
            <a:r>
              <a:rPr baseline="-25000" lang="en" sz="1300">
                <a:solidFill>
                  <a:schemeClr val="dk2"/>
                </a:solidFill>
              </a:rPr>
              <a:t>2</a:t>
            </a:r>
            <a:r>
              <a:rPr lang="en" sz="1300">
                <a:solidFill>
                  <a:schemeClr val="dk2"/>
                </a:solidFill>
              </a:rPr>
              <a:t>(R) = 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489675" y="3903850"/>
            <a:ext cx="14577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v</a:t>
            </a:r>
            <a:r>
              <a:rPr baseline="-25000" lang="en" sz="1300">
                <a:solidFill>
                  <a:schemeClr val="dk2"/>
                </a:solidFill>
              </a:rPr>
              <a:t>2</a:t>
            </a:r>
            <a:r>
              <a:rPr lang="en" sz="1300">
                <a:solidFill>
                  <a:schemeClr val="dk2"/>
                </a:solidFill>
              </a:rPr>
              <a:t>(</a:t>
            </a:r>
            <a:r>
              <a:rPr lang="en" sz="1200">
                <a:solidFill>
                  <a:schemeClr val="dk2"/>
                </a:solidFill>
              </a:rPr>
              <a:t>S</a:t>
            </a:r>
            <a:r>
              <a:rPr lang="en" sz="1300">
                <a:solidFill>
                  <a:schemeClr val="dk2"/>
                </a:solidFill>
              </a:rPr>
              <a:t>) = 0.15*0.08 </a:t>
            </a:r>
            <a:br>
              <a:rPr lang="en" sz="1300">
                <a:solidFill>
                  <a:schemeClr val="dk2"/>
                </a:solidFill>
              </a:rPr>
            </a:br>
            <a:r>
              <a:rPr lang="en" sz="1300">
                <a:solidFill>
                  <a:schemeClr val="dk2"/>
                </a:solidFill>
              </a:rPr>
              <a:t>bt</a:t>
            </a:r>
            <a:r>
              <a:rPr baseline="-25000" lang="en" sz="1300">
                <a:solidFill>
                  <a:schemeClr val="dk2"/>
                </a:solidFill>
              </a:rPr>
              <a:t>2</a:t>
            </a:r>
            <a:r>
              <a:rPr lang="en" sz="1300">
                <a:solidFill>
                  <a:schemeClr val="dk2"/>
                </a:solidFill>
              </a:rPr>
              <a:t>(S) = S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67" name="Google Shape;167;p18"/>
          <p:cNvCxnSpPr>
            <a:stCxn id="153" idx="6"/>
            <a:endCxn id="168" idx="2"/>
          </p:cNvCxnSpPr>
          <p:nvPr/>
        </p:nvCxnSpPr>
        <p:spPr>
          <a:xfrm>
            <a:off x="4194650" y="2946550"/>
            <a:ext cx="112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8"/>
          <p:cNvCxnSpPr>
            <a:stCxn id="153" idx="6"/>
            <a:endCxn id="170" idx="1"/>
          </p:cNvCxnSpPr>
          <p:nvPr/>
        </p:nvCxnSpPr>
        <p:spPr>
          <a:xfrm>
            <a:off x="4194650" y="2946550"/>
            <a:ext cx="1192800" cy="6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8"/>
          <p:cNvCxnSpPr>
            <a:stCxn id="156" idx="7"/>
            <a:endCxn id="168" idx="3"/>
          </p:cNvCxnSpPr>
          <p:nvPr/>
        </p:nvCxnSpPr>
        <p:spPr>
          <a:xfrm flipH="1" rot="10800000">
            <a:off x="4126860" y="3112037"/>
            <a:ext cx="1260600" cy="4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8"/>
          <p:cNvCxnSpPr>
            <a:endCxn id="170" idx="2"/>
          </p:cNvCxnSpPr>
          <p:nvPr/>
        </p:nvCxnSpPr>
        <p:spPr>
          <a:xfrm>
            <a:off x="4126800" y="3572700"/>
            <a:ext cx="1192800" cy="1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3" name="Google Shape;173;p18"/>
          <p:cNvGrpSpPr/>
          <p:nvPr/>
        </p:nvGrpSpPr>
        <p:grpSpPr>
          <a:xfrm>
            <a:off x="4194506" y="2670775"/>
            <a:ext cx="1587994" cy="2082375"/>
            <a:chOff x="4194506" y="2670775"/>
            <a:chExt cx="1587994" cy="2082375"/>
          </a:xfrm>
        </p:grpSpPr>
        <p:grpSp>
          <p:nvGrpSpPr>
            <p:cNvPr id="174" name="Google Shape;174;p18"/>
            <p:cNvGrpSpPr/>
            <p:nvPr/>
          </p:nvGrpSpPr>
          <p:grpSpPr>
            <a:xfrm>
              <a:off x="5319600" y="2712550"/>
              <a:ext cx="462900" cy="2040600"/>
              <a:chOff x="5319600" y="2712550"/>
              <a:chExt cx="462900" cy="2040600"/>
            </a:xfrm>
          </p:grpSpPr>
          <p:sp>
            <p:nvSpPr>
              <p:cNvPr id="175" name="Google Shape;175;p18"/>
              <p:cNvSpPr/>
              <p:nvPr/>
            </p:nvSpPr>
            <p:spPr>
              <a:xfrm>
                <a:off x="5319600" y="4437850"/>
                <a:ext cx="462900" cy="315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4</a:t>
                </a:r>
                <a:endParaRPr sz="1000"/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>
                <a:off x="5319600" y="2712550"/>
                <a:ext cx="462900" cy="468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</a:t>
                </a:r>
                <a:endParaRPr/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5319600" y="3504300"/>
                <a:ext cx="462900" cy="468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</p:grpSp>
        <p:sp>
          <p:nvSpPr>
            <p:cNvPr id="176" name="Google Shape;176;p18"/>
            <p:cNvSpPr txBox="1"/>
            <p:nvPr/>
          </p:nvSpPr>
          <p:spPr>
            <a:xfrm>
              <a:off x="4342850" y="2670775"/>
              <a:ext cx="9768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0.7 * 0.3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77" name="Google Shape;177;p18"/>
            <p:cNvSpPr txBox="1"/>
            <p:nvPr/>
          </p:nvSpPr>
          <p:spPr>
            <a:xfrm rot="1413446">
              <a:off x="4227484" y="2914907"/>
              <a:ext cx="1094408" cy="392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0.3 * 0.2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 rot="-1391049">
              <a:off x="4227572" y="3287242"/>
              <a:ext cx="1094268" cy="392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0.6 * 0.3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 rot="416630">
              <a:off x="4243883" y="3574659"/>
              <a:ext cx="1094327" cy="392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   0.4 * 0.2</a:t>
              </a:r>
              <a:endParaRPr sz="1300">
                <a:solidFill>
                  <a:schemeClr val="dk2"/>
                </a:solidFill>
              </a:endParaRPr>
            </a:p>
          </p:txBody>
        </p:sp>
      </p:grpSp>
      <p:sp>
        <p:nvSpPr>
          <p:cNvPr id="180" name="Google Shape;180;p18"/>
          <p:cNvSpPr txBox="1"/>
          <p:nvPr/>
        </p:nvSpPr>
        <p:spPr>
          <a:xfrm>
            <a:off x="5850250" y="2633350"/>
            <a:ext cx="1994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v</a:t>
            </a:r>
            <a:r>
              <a:rPr baseline="-25000" lang="en" sz="1300">
                <a:solidFill>
                  <a:schemeClr val="dk2"/>
                </a:solidFill>
              </a:rPr>
              <a:t>3</a:t>
            </a:r>
            <a:r>
              <a:rPr lang="en" sz="1300">
                <a:solidFill>
                  <a:schemeClr val="dk2"/>
                </a:solidFill>
              </a:rPr>
              <a:t>(</a:t>
            </a:r>
            <a:r>
              <a:rPr lang="en" sz="1200">
                <a:solidFill>
                  <a:schemeClr val="dk2"/>
                </a:solidFill>
              </a:rPr>
              <a:t>R</a:t>
            </a:r>
            <a:r>
              <a:rPr lang="en" sz="1300">
                <a:solidFill>
                  <a:schemeClr val="dk2"/>
                </a:solidFill>
              </a:rPr>
              <a:t>) = 0.15*0. 24*0.21</a:t>
            </a:r>
            <a:br>
              <a:rPr lang="en" sz="1300">
                <a:solidFill>
                  <a:schemeClr val="dk2"/>
                </a:solidFill>
              </a:rPr>
            </a:br>
            <a:r>
              <a:rPr lang="en" sz="1300">
                <a:solidFill>
                  <a:schemeClr val="dk2"/>
                </a:solidFill>
              </a:rPr>
              <a:t>bt</a:t>
            </a:r>
            <a:r>
              <a:rPr baseline="-25000" lang="en" sz="1300">
                <a:solidFill>
                  <a:schemeClr val="dk2"/>
                </a:solidFill>
              </a:rPr>
              <a:t>3</a:t>
            </a:r>
            <a:r>
              <a:rPr lang="en" sz="1300">
                <a:solidFill>
                  <a:schemeClr val="dk2"/>
                </a:solidFill>
              </a:rPr>
              <a:t>(R) = R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5910750" y="3572700"/>
            <a:ext cx="1994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v</a:t>
            </a:r>
            <a:r>
              <a:rPr baseline="-25000" lang="en" sz="1300">
                <a:solidFill>
                  <a:schemeClr val="dk2"/>
                </a:solidFill>
              </a:rPr>
              <a:t>3</a:t>
            </a:r>
            <a:r>
              <a:rPr lang="en" sz="1300">
                <a:solidFill>
                  <a:schemeClr val="dk2"/>
                </a:solidFill>
              </a:rPr>
              <a:t>(</a:t>
            </a:r>
            <a:r>
              <a:rPr lang="en" sz="1200">
                <a:solidFill>
                  <a:schemeClr val="dk2"/>
                </a:solidFill>
              </a:rPr>
              <a:t>S</a:t>
            </a:r>
            <a:r>
              <a:rPr lang="en" sz="1300">
                <a:solidFill>
                  <a:schemeClr val="dk2"/>
                </a:solidFill>
              </a:rPr>
              <a:t>) = 0.15*0. 24*0.06</a:t>
            </a:r>
            <a:br>
              <a:rPr lang="en" sz="1300">
                <a:solidFill>
                  <a:schemeClr val="dk2"/>
                </a:solidFill>
              </a:rPr>
            </a:br>
            <a:r>
              <a:rPr lang="en" sz="1300">
                <a:solidFill>
                  <a:schemeClr val="dk2"/>
                </a:solidFill>
              </a:rPr>
              <a:t>bt</a:t>
            </a:r>
            <a:r>
              <a:rPr baseline="-25000" lang="en" sz="1300">
                <a:solidFill>
                  <a:schemeClr val="dk2"/>
                </a:solidFill>
              </a:rPr>
              <a:t>3</a:t>
            </a:r>
            <a:r>
              <a:rPr lang="en" sz="1300">
                <a:solidFill>
                  <a:schemeClr val="dk2"/>
                </a:solidFill>
              </a:rPr>
              <a:t>(S) = R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398675" y="849275"/>
            <a:ext cx="46302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</a:rPr>
              <a:t>Ans: S,R,R (2,1,1) with prob = 0.15 * 0.24 * 0.21 </a:t>
            </a:r>
            <a:br>
              <a:rPr lang="en" sz="1600">
                <a:solidFill>
                  <a:srgbClr val="0B5394"/>
                </a:solidFill>
              </a:rPr>
            </a:br>
            <a:endParaRPr sz="1600">
              <a:solidFill>
                <a:srgbClr val="0B539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11700" y="27300"/>
            <a:ext cx="85206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1420" u="sng"/>
              <a:t>Pseudocode</a:t>
            </a:r>
            <a:r>
              <a:rPr b="1" i="1" lang="en" sz="1720"/>
              <a:t> </a:t>
            </a:r>
            <a:endParaRPr sz="1720"/>
          </a:p>
        </p:txBody>
      </p:sp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311700" y="464700"/>
            <a:ext cx="8520600" cy="4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1">
                <a:solidFill>
                  <a:schemeClr val="dk1"/>
                </a:solidFill>
              </a:rPr>
              <a:t>T - </a:t>
            </a:r>
            <a:r>
              <a:rPr lang="en" sz="1291">
                <a:solidFill>
                  <a:schemeClr val="dk1"/>
                </a:solidFill>
              </a:rPr>
              <a:t>no of observations in input sequence</a:t>
            </a:r>
            <a:br>
              <a:rPr b="1" lang="en" sz="1291">
                <a:solidFill>
                  <a:schemeClr val="dk1"/>
                </a:solidFill>
              </a:rPr>
            </a:br>
            <a:r>
              <a:rPr b="1" lang="en" sz="1291">
                <a:solidFill>
                  <a:schemeClr val="dk1"/>
                </a:solidFill>
              </a:rPr>
              <a:t>b</a:t>
            </a:r>
            <a:r>
              <a:rPr b="1" lang="en" sz="1291">
                <a:solidFill>
                  <a:schemeClr val="dk1"/>
                </a:solidFill>
              </a:rPr>
              <a:t>t[t][j]: </a:t>
            </a:r>
            <a:r>
              <a:rPr lang="en" sz="1291">
                <a:solidFill>
                  <a:schemeClr val="dk1"/>
                </a:solidFill>
              </a:rPr>
              <a:t>backtrace array which records prev state that led to the max probability ending at state j at time t  </a:t>
            </a:r>
            <a:br>
              <a:rPr lang="en" sz="1291">
                <a:solidFill>
                  <a:schemeClr val="dk1"/>
                </a:solidFill>
              </a:rPr>
            </a:br>
            <a:r>
              <a:rPr b="1" lang="en" sz="1291">
                <a:solidFill>
                  <a:schemeClr val="dk1"/>
                </a:solidFill>
              </a:rPr>
              <a:t>prob[]: </a:t>
            </a:r>
            <a:r>
              <a:rPr lang="en" sz="1291">
                <a:solidFill>
                  <a:schemeClr val="dk1"/>
                </a:solidFill>
              </a:rPr>
              <a:t>current max path probability ending at each state</a:t>
            </a:r>
            <a:br>
              <a:rPr b="1" lang="en" sz="1291">
                <a:solidFill>
                  <a:schemeClr val="dk1"/>
                </a:solidFill>
              </a:rPr>
            </a:br>
            <a:r>
              <a:rPr b="1" lang="en" sz="1291">
                <a:solidFill>
                  <a:schemeClr val="dk1"/>
                </a:solidFill>
              </a:rPr>
              <a:t>temp[]: </a:t>
            </a:r>
            <a:r>
              <a:rPr lang="en" sz="1291">
                <a:solidFill>
                  <a:schemeClr val="dk1"/>
                </a:solidFill>
              </a:rPr>
              <a:t>temporary array to store updated values of probabilities at each time step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 u="sng">
                <a:solidFill>
                  <a:schemeClr val="dk1"/>
                </a:solidFill>
              </a:rPr>
              <a:t>Initialization(t = 1)</a:t>
            </a:r>
            <a:r>
              <a:rPr b="1"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prob[j] = a[0][j]</a:t>
            </a:r>
            <a:r>
              <a:rPr baseline="-25000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* b[j][o</a:t>
            </a:r>
            <a:r>
              <a:rPr baseline="-25000" lang="en" sz="1100">
                <a:solidFill>
                  <a:schemeClr val="dk1"/>
                </a:solidFill>
              </a:rPr>
              <a:t>1</a:t>
            </a:r>
            <a:r>
              <a:rPr lang="en" sz="1100">
                <a:solidFill>
                  <a:schemeClr val="dk1"/>
                </a:solidFill>
              </a:rPr>
              <a:t>] for all j : 1 to N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                       bt[1][j] = q</a:t>
            </a:r>
            <a:r>
              <a:rPr baseline="-25000" lang="en" sz="1100">
                <a:solidFill>
                  <a:schemeClr val="dk1"/>
                </a:solidFill>
              </a:rPr>
              <a:t>0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100" u="sng">
                <a:solidFill>
                  <a:schemeClr val="dk1"/>
                </a:solidFill>
              </a:rPr>
              <a:t>Iterative step: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for each time step t from 2 to T do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</a:t>
            </a:r>
            <a:r>
              <a:rPr b="1" lang="en" sz="1100">
                <a:solidFill>
                  <a:schemeClr val="dk1"/>
                </a:solidFill>
              </a:rPr>
              <a:t>for each state j from 1 to N do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     {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max_val = 0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max_state = -1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</a:t>
            </a:r>
            <a:r>
              <a:rPr b="1" lang="en" sz="1100">
                <a:solidFill>
                  <a:schemeClr val="dk1"/>
                </a:solidFill>
              </a:rPr>
              <a:t> for i in 1 to 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         {    </a:t>
            </a:r>
            <a:r>
              <a:rPr lang="en" sz="1100">
                <a:solidFill>
                  <a:schemeClr val="dk1"/>
                </a:solidFill>
              </a:rPr>
              <a:t>val = prob[i] * a[i][j] * b[j][o</a:t>
            </a:r>
            <a:r>
              <a:rPr baseline="-25000" lang="en" sz="1100">
                <a:solidFill>
                  <a:schemeClr val="dk1"/>
                </a:solidFill>
              </a:rPr>
              <a:t>t</a:t>
            </a:r>
            <a:r>
              <a:rPr lang="en" sz="1100">
                <a:solidFill>
                  <a:schemeClr val="dk1"/>
                </a:solidFill>
              </a:rPr>
              <a:t>]        	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   </a:t>
            </a:r>
            <a:r>
              <a:rPr b="1" lang="en" sz="1100">
                <a:solidFill>
                  <a:schemeClr val="dk1"/>
                </a:solidFill>
              </a:rPr>
              <a:t>if val &gt; max_val then: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                  </a:t>
            </a:r>
            <a:r>
              <a:rPr lang="en" sz="1100">
                <a:solidFill>
                  <a:schemeClr val="dk1"/>
                </a:solidFill>
              </a:rPr>
              <a:t>max_val = val;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        max_state = i;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</a:t>
            </a:r>
            <a:r>
              <a:rPr b="1" lang="en" sz="1100">
                <a:solidFill>
                  <a:schemeClr val="dk1"/>
                </a:solidFill>
              </a:rPr>
              <a:t>}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temp[j] = max_val,   bt[t][j] = max_state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</a:t>
            </a:r>
            <a:r>
              <a:rPr b="1" lang="en" sz="1100">
                <a:solidFill>
                  <a:schemeClr val="dk1"/>
                </a:solidFill>
              </a:rPr>
              <a:t>}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      prob = temp; </a:t>
            </a:r>
            <a:r>
              <a:rPr lang="en" sz="1100">
                <a:solidFill>
                  <a:schemeClr val="dk1"/>
                </a:solidFill>
              </a:rPr>
              <a:t>//copy temp array back to prob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274100" y="94175"/>
            <a:ext cx="85206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Contd.</a:t>
            </a:r>
            <a:endParaRPr sz="1400"/>
          </a:p>
        </p:txBody>
      </p:sp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311700" y="523750"/>
            <a:ext cx="8520600" cy="40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 u="sng">
                <a:solidFill>
                  <a:schemeClr val="dk1"/>
                </a:solidFill>
              </a:rPr>
              <a:t>Termination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path[]:</a:t>
            </a:r>
            <a:r>
              <a:rPr lang="en" sz="1100">
                <a:solidFill>
                  <a:schemeClr val="dk1"/>
                </a:solidFill>
              </a:rPr>
              <a:t> final viterbi path of hidden states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v</a:t>
            </a:r>
            <a:r>
              <a:rPr b="1" lang="en" sz="1100">
                <a:solidFill>
                  <a:schemeClr val="dk1"/>
                </a:solidFill>
              </a:rPr>
              <a:t>prob: </a:t>
            </a:r>
            <a:r>
              <a:rPr lang="en" sz="1100">
                <a:solidFill>
                  <a:schemeClr val="dk1"/>
                </a:solidFill>
              </a:rPr>
              <a:t>final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probability of mostly likely sequence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v</a:t>
            </a:r>
            <a:r>
              <a:rPr lang="en" sz="1100">
                <a:solidFill>
                  <a:schemeClr val="dk1"/>
                </a:solidFill>
              </a:rPr>
              <a:t>prob =0;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f</a:t>
            </a:r>
            <a:r>
              <a:rPr b="1" lang="en" sz="1100">
                <a:solidFill>
                  <a:schemeClr val="dk1"/>
                </a:solidFill>
              </a:rPr>
              <a:t>or i in 1 to 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{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     </a:t>
            </a:r>
            <a:r>
              <a:rPr b="1" lang="en" sz="1100">
                <a:solidFill>
                  <a:schemeClr val="dk1"/>
                </a:solidFill>
              </a:rPr>
              <a:t>i</a:t>
            </a:r>
            <a:r>
              <a:rPr b="1" lang="en" sz="1100">
                <a:solidFill>
                  <a:schemeClr val="dk1"/>
                </a:solidFill>
              </a:rPr>
              <a:t>f prob[i] &gt; </a:t>
            </a:r>
            <a:r>
              <a:rPr b="1" lang="en" sz="1100">
                <a:solidFill>
                  <a:schemeClr val="dk1"/>
                </a:solidFill>
              </a:rPr>
              <a:t>vprob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          </a:t>
            </a:r>
            <a:r>
              <a:rPr lang="en" sz="1100">
                <a:solidFill>
                  <a:schemeClr val="dk1"/>
                </a:solidFill>
              </a:rPr>
              <a:t>vprob</a:t>
            </a:r>
            <a:r>
              <a:rPr lang="en" sz="1100">
                <a:solidFill>
                  <a:schemeClr val="dk1"/>
                </a:solidFill>
              </a:rPr>
              <a:t> = prob[i] 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path[T] = i ;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}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f</a:t>
            </a:r>
            <a:r>
              <a:rPr b="1" lang="en" sz="1100">
                <a:solidFill>
                  <a:schemeClr val="dk1"/>
                </a:solidFill>
              </a:rPr>
              <a:t>or t in T-1 -&gt; 1: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{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      </a:t>
            </a:r>
            <a:r>
              <a:rPr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ath[t] = bt[t+1][path[t+1]];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}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